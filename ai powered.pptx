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553961-FC96-405A-9EA8-5CC66DB4BFB7}" v="20" dt="2025-04-03T16:02:12.6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0719" autoAdjust="0"/>
  </p:normalViewPr>
  <p:slideViewPr>
    <p:cSldViewPr snapToGrid="0">
      <p:cViewPr varScale="1">
        <p:scale>
          <a:sx n="57" d="100"/>
          <a:sy n="57" d="100"/>
        </p:scale>
        <p:origin x="10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FEAC5-2C6B-F19F-569B-07D42E730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E42A0F2-D9EC-E493-F825-31C122C2E5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67773AA-D6FF-E0A7-492A-59F7A67586F9}"/>
              </a:ext>
            </a:extLst>
          </p:cNvPr>
          <p:cNvSpPr>
            <a:spLocks noGrp="1"/>
          </p:cNvSpPr>
          <p:nvPr>
            <p:ph type="dt" sz="half" idx="10"/>
          </p:nvPr>
        </p:nvSpPr>
        <p:spPr/>
        <p:txBody>
          <a:bodyPr/>
          <a:lstStyle/>
          <a:p>
            <a:fld id="{EEC315ED-F12D-4025-A3CD-0C33106EA6D3}" type="datetimeFigureOut">
              <a:rPr lang="en-IN" smtClean="0"/>
              <a:t>03-06-2025</a:t>
            </a:fld>
            <a:endParaRPr lang="en-IN"/>
          </a:p>
        </p:txBody>
      </p:sp>
      <p:sp>
        <p:nvSpPr>
          <p:cNvPr id="5" name="Footer Placeholder 4">
            <a:extLst>
              <a:ext uri="{FF2B5EF4-FFF2-40B4-BE49-F238E27FC236}">
                <a16:creationId xmlns:a16="http://schemas.microsoft.com/office/drawing/2014/main" id="{D3665DBD-AF1E-A5B7-55C3-17E07C2FC3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E7BE18-649B-56F2-A422-A0634ECFCC0E}"/>
              </a:ext>
            </a:extLst>
          </p:cNvPr>
          <p:cNvSpPr>
            <a:spLocks noGrp="1"/>
          </p:cNvSpPr>
          <p:nvPr>
            <p:ph type="sldNum" sz="quarter" idx="12"/>
          </p:nvPr>
        </p:nvSpPr>
        <p:spPr/>
        <p:txBody>
          <a:bodyPr/>
          <a:lstStyle/>
          <a:p>
            <a:fld id="{EBD96BED-FE66-48B4-9A95-F6DD9B463046}" type="slidenum">
              <a:rPr lang="en-IN" smtClean="0"/>
              <a:t>‹#›</a:t>
            </a:fld>
            <a:endParaRPr lang="en-IN"/>
          </a:p>
        </p:txBody>
      </p:sp>
    </p:spTree>
    <p:extLst>
      <p:ext uri="{BB962C8B-B14F-4D97-AF65-F5344CB8AC3E}">
        <p14:creationId xmlns:p14="http://schemas.microsoft.com/office/powerpoint/2010/main" val="1125756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5172A-A06C-B2ED-0AE0-FD497B0FAD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CA0A12-8A54-FDCA-66E3-C86DF945E9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DA6134-CD90-BB8F-882E-6601A9CCE488}"/>
              </a:ext>
            </a:extLst>
          </p:cNvPr>
          <p:cNvSpPr>
            <a:spLocks noGrp="1"/>
          </p:cNvSpPr>
          <p:nvPr>
            <p:ph type="dt" sz="half" idx="10"/>
          </p:nvPr>
        </p:nvSpPr>
        <p:spPr/>
        <p:txBody>
          <a:bodyPr/>
          <a:lstStyle/>
          <a:p>
            <a:fld id="{EEC315ED-F12D-4025-A3CD-0C33106EA6D3}" type="datetimeFigureOut">
              <a:rPr lang="en-IN" smtClean="0"/>
              <a:t>03-06-2025</a:t>
            </a:fld>
            <a:endParaRPr lang="en-IN"/>
          </a:p>
        </p:txBody>
      </p:sp>
      <p:sp>
        <p:nvSpPr>
          <p:cNvPr id="5" name="Footer Placeholder 4">
            <a:extLst>
              <a:ext uri="{FF2B5EF4-FFF2-40B4-BE49-F238E27FC236}">
                <a16:creationId xmlns:a16="http://schemas.microsoft.com/office/drawing/2014/main" id="{A2367703-FE09-25F5-0216-CFC4F48DED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2A5837-5EE3-C3D2-EA25-D421C20F8D4D}"/>
              </a:ext>
            </a:extLst>
          </p:cNvPr>
          <p:cNvSpPr>
            <a:spLocks noGrp="1"/>
          </p:cNvSpPr>
          <p:nvPr>
            <p:ph type="sldNum" sz="quarter" idx="12"/>
          </p:nvPr>
        </p:nvSpPr>
        <p:spPr/>
        <p:txBody>
          <a:bodyPr/>
          <a:lstStyle/>
          <a:p>
            <a:fld id="{EBD96BED-FE66-48B4-9A95-F6DD9B463046}" type="slidenum">
              <a:rPr lang="en-IN" smtClean="0"/>
              <a:t>‹#›</a:t>
            </a:fld>
            <a:endParaRPr lang="en-IN"/>
          </a:p>
        </p:txBody>
      </p:sp>
    </p:spTree>
    <p:extLst>
      <p:ext uri="{BB962C8B-B14F-4D97-AF65-F5344CB8AC3E}">
        <p14:creationId xmlns:p14="http://schemas.microsoft.com/office/powerpoint/2010/main" val="3659095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68637-A902-C8FE-63FA-6D39B9BB61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D87E75-A8D5-E81B-D632-B585B5D4C0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E655E8-E137-A82A-038D-C7FFE3F98524}"/>
              </a:ext>
            </a:extLst>
          </p:cNvPr>
          <p:cNvSpPr>
            <a:spLocks noGrp="1"/>
          </p:cNvSpPr>
          <p:nvPr>
            <p:ph type="dt" sz="half" idx="10"/>
          </p:nvPr>
        </p:nvSpPr>
        <p:spPr/>
        <p:txBody>
          <a:bodyPr/>
          <a:lstStyle/>
          <a:p>
            <a:fld id="{EEC315ED-F12D-4025-A3CD-0C33106EA6D3}" type="datetimeFigureOut">
              <a:rPr lang="en-IN" smtClean="0"/>
              <a:t>03-06-2025</a:t>
            </a:fld>
            <a:endParaRPr lang="en-IN"/>
          </a:p>
        </p:txBody>
      </p:sp>
      <p:sp>
        <p:nvSpPr>
          <p:cNvPr id="5" name="Footer Placeholder 4">
            <a:extLst>
              <a:ext uri="{FF2B5EF4-FFF2-40B4-BE49-F238E27FC236}">
                <a16:creationId xmlns:a16="http://schemas.microsoft.com/office/drawing/2014/main" id="{C7FC5DE9-B1F1-C220-437C-8F00FDAB3E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465C78-5BA8-69D5-C171-34C045807B0B}"/>
              </a:ext>
            </a:extLst>
          </p:cNvPr>
          <p:cNvSpPr>
            <a:spLocks noGrp="1"/>
          </p:cNvSpPr>
          <p:nvPr>
            <p:ph type="sldNum" sz="quarter" idx="12"/>
          </p:nvPr>
        </p:nvSpPr>
        <p:spPr/>
        <p:txBody>
          <a:bodyPr/>
          <a:lstStyle/>
          <a:p>
            <a:fld id="{EBD96BED-FE66-48B4-9A95-F6DD9B463046}" type="slidenum">
              <a:rPr lang="en-IN" smtClean="0"/>
              <a:t>‹#›</a:t>
            </a:fld>
            <a:endParaRPr lang="en-IN"/>
          </a:p>
        </p:txBody>
      </p:sp>
    </p:spTree>
    <p:extLst>
      <p:ext uri="{BB962C8B-B14F-4D97-AF65-F5344CB8AC3E}">
        <p14:creationId xmlns:p14="http://schemas.microsoft.com/office/powerpoint/2010/main" val="1758315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17E65-5CB9-DA9C-C672-56B9F6170D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1891DA-5B4C-0BF2-04F2-AD8196AFBC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36D86F3-500E-F8C9-7138-5C477566F6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3B226E1-AC9B-147F-6A7D-B0D3C80CF2D5}"/>
              </a:ext>
            </a:extLst>
          </p:cNvPr>
          <p:cNvSpPr>
            <a:spLocks noGrp="1"/>
          </p:cNvSpPr>
          <p:nvPr>
            <p:ph type="dt" sz="half" idx="10"/>
          </p:nvPr>
        </p:nvSpPr>
        <p:spPr/>
        <p:txBody>
          <a:bodyPr/>
          <a:lstStyle/>
          <a:p>
            <a:fld id="{EEC315ED-F12D-4025-A3CD-0C33106EA6D3}" type="datetimeFigureOut">
              <a:rPr lang="en-IN" smtClean="0"/>
              <a:t>03-06-2025</a:t>
            </a:fld>
            <a:endParaRPr lang="en-IN"/>
          </a:p>
        </p:txBody>
      </p:sp>
      <p:sp>
        <p:nvSpPr>
          <p:cNvPr id="6" name="Footer Placeholder 5">
            <a:extLst>
              <a:ext uri="{FF2B5EF4-FFF2-40B4-BE49-F238E27FC236}">
                <a16:creationId xmlns:a16="http://schemas.microsoft.com/office/drawing/2014/main" id="{DC75D128-FF89-DE7B-125A-5A1D3A724B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9F78DE-7895-711E-BF27-6909EF6C974D}"/>
              </a:ext>
            </a:extLst>
          </p:cNvPr>
          <p:cNvSpPr>
            <a:spLocks noGrp="1"/>
          </p:cNvSpPr>
          <p:nvPr>
            <p:ph type="sldNum" sz="quarter" idx="12"/>
          </p:nvPr>
        </p:nvSpPr>
        <p:spPr/>
        <p:txBody>
          <a:bodyPr/>
          <a:lstStyle/>
          <a:p>
            <a:fld id="{EBD96BED-FE66-48B4-9A95-F6DD9B463046}" type="slidenum">
              <a:rPr lang="en-IN" smtClean="0"/>
              <a:t>‹#›</a:t>
            </a:fld>
            <a:endParaRPr lang="en-IN"/>
          </a:p>
        </p:txBody>
      </p:sp>
    </p:spTree>
    <p:extLst>
      <p:ext uri="{BB962C8B-B14F-4D97-AF65-F5344CB8AC3E}">
        <p14:creationId xmlns:p14="http://schemas.microsoft.com/office/powerpoint/2010/main" val="1600057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23268-8A5A-CCA0-7131-8EA92E63B5D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C60506-3017-DE93-C9F7-8E9C0BCC75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0F5E29-4305-2BCC-B262-335AD00477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EFFEF0-0DEB-1E7C-6296-B9418C4997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83317F-7C08-B7AE-CB24-99A498E049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273AB6-44ED-5B4D-29AE-FEC57F623F46}"/>
              </a:ext>
            </a:extLst>
          </p:cNvPr>
          <p:cNvSpPr>
            <a:spLocks noGrp="1"/>
          </p:cNvSpPr>
          <p:nvPr>
            <p:ph type="dt" sz="half" idx="10"/>
          </p:nvPr>
        </p:nvSpPr>
        <p:spPr/>
        <p:txBody>
          <a:bodyPr/>
          <a:lstStyle/>
          <a:p>
            <a:fld id="{EEC315ED-F12D-4025-A3CD-0C33106EA6D3}" type="datetimeFigureOut">
              <a:rPr lang="en-IN" smtClean="0"/>
              <a:t>03-06-2025</a:t>
            </a:fld>
            <a:endParaRPr lang="en-IN"/>
          </a:p>
        </p:txBody>
      </p:sp>
      <p:sp>
        <p:nvSpPr>
          <p:cNvPr id="8" name="Footer Placeholder 7">
            <a:extLst>
              <a:ext uri="{FF2B5EF4-FFF2-40B4-BE49-F238E27FC236}">
                <a16:creationId xmlns:a16="http://schemas.microsoft.com/office/drawing/2014/main" id="{0B78D9B5-9CA8-36FF-BC86-44D7A984805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94CFBC-D742-854D-922A-8BDAD8A7BB9C}"/>
              </a:ext>
            </a:extLst>
          </p:cNvPr>
          <p:cNvSpPr>
            <a:spLocks noGrp="1"/>
          </p:cNvSpPr>
          <p:nvPr>
            <p:ph type="sldNum" sz="quarter" idx="12"/>
          </p:nvPr>
        </p:nvSpPr>
        <p:spPr/>
        <p:txBody>
          <a:bodyPr/>
          <a:lstStyle/>
          <a:p>
            <a:fld id="{EBD96BED-FE66-48B4-9A95-F6DD9B463046}" type="slidenum">
              <a:rPr lang="en-IN" smtClean="0"/>
              <a:t>‹#›</a:t>
            </a:fld>
            <a:endParaRPr lang="en-IN"/>
          </a:p>
        </p:txBody>
      </p:sp>
    </p:spTree>
    <p:extLst>
      <p:ext uri="{BB962C8B-B14F-4D97-AF65-F5344CB8AC3E}">
        <p14:creationId xmlns:p14="http://schemas.microsoft.com/office/powerpoint/2010/main" val="3330339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43725-084C-457E-89F7-20514221B9B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3DACE76-8D26-238D-6B95-F3B64C91019C}"/>
              </a:ext>
            </a:extLst>
          </p:cNvPr>
          <p:cNvSpPr>
            <a:spLocks noGrp="1"/>
          </p:cNvSpPr>
          <p:nvPr>
            <p:ph type="dt" sz="half" idx="10"/>
          </p:nvPr>
        </p:nvSpPr>
        <p:spPr/>
        <p:txBody>
          <a:bodyPr/>
          <a:lstStyle/>
          <a:p>
            <a:fld id="{EEC315ED-F12D-4025-A3CD-0C33106EA6D3}" type="datetimeFigureOut">
              <a:rPr lang="en-IN" smtClean="0"/>
              <a:t>03-06-2025</a:t>
            </a:fld>
            <a:endParaRPr lang="en-IN"/>
          </a:p>
        </p:txBody>
      </p:sp>
      <p:sp>
        <p:nvSpPr>
          <p:cNvPr id="4" name="Footer Placeholder 3">
            <a:extLst>
              <a:ext uri="{FF2B5EF4-FFF2-40B4-BE49-F238E27FC236}">
                <a16:creationId xmlns:a16="http://schemas.microsoft.com/office/drawing/2014/main" id="{D57EBEED-31A5-B0A3-5AEF-1AF762DAE9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A6A705E-68B6-3820-9596-449AABB37812}"/>
              </a:ext>
            </a:extLst>
          </p:cNvPr>
          <p:cNvSpPr>
            <a:spLocks noGrp="1"/>
          </p:cNvSpPr>
          <p:nvPr>
            <p:ph type="sldNum" sz="quarter" idx="12"/>
          </p:nvPr>
        </p:nvSpPr>
        <p:spPr/>
        <p:txBody>
          <a:bodyPr/>
          <a:lstStyle/>
          <a:p>
            <a:fld id="{EBD96BED-FE66-48B4-9A95-F6DD9B463046}" type="slidenum">
              <a:rPr lang="en-IN" smtClean="0"/>
              <a:t>‹#›</a:t>
            </a:fld>
            <a:endParaRPr lang="en-IN"/>
          </a:p>
        </p:txBody>
      </p:sp>
    </p:spTree>
    <p:extLst>
      <p:ext uri="{BB962C8B-B14F-4D97-AF65-F5344CB8AC3E}">
        <p14:creationId xmlns:p14="http://schemas.microsoft.com/office/powerpoint/2010/main" val="259169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D96406-7E4E-BC11-1D02-C3A7448920C9}"/>
              </a:ext>
            </a:extLst>
          </p:cNvPr>
          <p:cNvSpPr>
            <a:spLocks noGrp="1"/>
          </p:cNvSpPr>
          <p:nvPr>
            <p:ph type="dt" sz="half" idx="10"/>
          </p:nvPr>
        </p:nvSpPr>
        <p:spPr/>
        <p:txBody>
          <a:bodyPr/>
          <a:lstStyle/>
          <a:p>
            <a:fld id="{EEC315ED-F12D-4025-A3CD-0C33106EA6D3}" type="datetimeFigureOut">
              <a:rPr lang="en-IN" smtClean="0"/>
              <a:t>03-06-2025</a:t>
            </a:fld>
            <a:endParaRPr lang="en-IN"/>
          </a:p>
        </p:txBody>
      </p:sp>
      <p:sp>
        <p:nvSpPr>
          <p:cNvPr id="3" name="Footer Placeholder 2">
            <a:extLst>
              <a:ext uri="{FF2B5EF4-FFF2-40B4-BE49-F238E27FC236}">
                <a16:creationId xmlns:a16="http://schemas.microsoft.com/office/drawing/2014/main" id="{B348D478-94D6-1F8B-713A-01F35502EA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7B5D18-F638-FE91-96F3-121F1970CB63}"/>
              </a:ext>
            </a:extLst>
          </p:cNvPr>
          <p:cNvSpPr>
            <a:spLocks noGrp="1"/>
          </p:cNvSpPr>
          <p:nvPr>
            <p:ph type="sldNum" sz="quarter" idx="12"/>
          </p:nvPr>
        </p:nvSpPr>
        <p:spPr/>
        <p:txBody>
          <a:bodyPr/>
          <a:lstStyle/>
          <a:p>
            <a:fld id="{EBD96BED-FE66-48B4-9A95-F6DD9B463046}" type="slidenum">
              <a:rPr lang="en-IN" smtClean="0"/>
              <a:t>‹#›</a:t>
            </a:fld>
            <a:endParaRPr lang="en-IN"/>
          </a:p>
        </p:txBody>
      </p:sp>
    </p:spTree>
    <p:extLst>
      <p:ext uri="{BB962C8B-B14F-4D97-AF65-F5344CB8AC3E}">
        <p14:creationId xmlns:p14="http://schemas.microsoft.com/office/powerpoint/2010/main" val="859984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E9649-9E17-B645-EFD3-A36EB85295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2C896E-9708-4976-3EA8-18E7213012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3733535-B4F0-AEC0-BF91-9C9265761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C48017-CBF1-D39E-9DC3-09A20E5DA203}"/>
              </a:ext>
            </a:extLst>
          </p:cNvPr>
          <p:cNvSpPr>
            <a:spLocks noGrp="1"/>
          </p:cNvSpPr>
          <p:nvPr>
            <p:ph type="dt" sz="half" idx="10"/>
          </p:nvPr>
        </p:nvSpPr>
        <p:spPr/>
        <p:txBody>
          <a:bodyPr/>
          <a:lstStyle/>
          <a:p>
            <a:fld id="{EEC315ED-F12D-4025-A3CD-0C33106EA6D3}" type="datetimeFigureOut">
              <a:rPr lang="en-IN" smtClean="0"/>
              <a:t>03-06-2025</a:t>
            </a:fld>
            <a:endParaRPr lang="en-IN"/>
          </a:p>
        </p:txBody>
      </p:sp>
      <p:sp>
        <p:nvSpPr>
          <p:cNvPr id="6" name="Footer Placeholder 5">
            <a:extLst>
              <a:ext uri="{FF2B5EF4-FFF2-40B4-BE49-F238E27FC236}">
                <a16:creationId xmlns:a16="http://schemas.microsoft.com/office/drawing/2014/main" id="{C82CA3D8-1F3C-54FB-8F60-CAE18B8DEE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14A94E-2120-4AF1-CA3F-CA16481270E5}"/>
              </a:ext>
            </a:extLst>
          </p:cNvPr>
          <p:cNvSpPr>
            <a:spLocks noGrp="1"/>
          </p:cNvSpPr>
          <p:nvPr>
            <p:ph type="sldNum" sz="quarter" idx="12"/>
          </p:nvPr>
        </p:nvSpPr>
        <p:spPr/>
        <p:txBody>
          <a:bodyPr/>
          <a:lstStyle/>
          <a:p>
            <a:fld id="{EBD96BED-FE66-48B4-9A95-F6DD9B463046}" type="slidenum">
              <a:rPr lang="en-IN" smtClean="0"/>
              <a:t>‹#›</a:t>
            </a:fld>
            <a:endParaRPr lang="en-IN"/>
          </a:p>
        </p:txBody>
      </p:sp>
    </p:spTree>
    <p:extLst>
      <p:ext uri="{BB962C8B-B14F-4D97-AF65-F5344CB8AC3E}">
        <p14:creationId xmlns:p14="http://schemas.microsoft.com/office/powerpoint/2010/main" val="385313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5B4D6-7410-C914-DC84-B935D2492D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C19EAFE-70F6-5E2F-AA22-BFA1E1C56A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9C1C255-6947-EEC7-C6FD-D539167C5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0457FD-4491-9906-5F0F-FCCB34A0A99C}"/>
              </a:ext>
            </a:extLst>
          </p:cNvPr>
          <p:cNvSpPr>
            <a:spLocks noGrp="1"/>
          </p:cNvSpPr>
          <p:nvPr>
            <p:ph type="dt" sz="half" idx="10"/>
          </p:nvPr>
        </p:nvSpPr>
        <p:spPr/>
        <p:txBody>
          <a:bodyPr/>
          <a:lstStyle/>
          <a:p>
            <a:fld id="{EEC315ED-F12D-4025-A3CD-0C33106EA6D3}" type="datetimeFigureOut">
              <a:rPr lang="en-IN" smtClean="0"/>
              <a:t>03-06-2025</a:t>
            </a:fld>
            <a:endParaRPr lang="en-IN"/>
          </a:p>
        </p:txBody>
      </p:sp>
      <p:sp>
        <p:nvSpPr>
          <p:cNvPr id="6" name="Footer Placeholder 5">
            <a:extLst>
              <a:ext uri="{FF2B5EF4-FFF2-40B4-BE49-F238E27FC236}">
                <a16:creationId xmlns:a16="http://schemas.microsoft.com/office/drawing/2014/main" id="{C9A16313-5ACF-E2C8-8AB5-BC527034C6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10CE0B-FB20-305F-9AA9-097023662EF2}"/>
              </a:ext>
            </a:extLst>
          </p:cNvPr>
          <p:cNvSpPr>
            <a:spLocks noGrp="1"/>
          </p:cNvSpPr>
          <p:nvPr>
            <p:ph type="sldNum" sz="quarter" idx="12"/>
          </p:nvPr>
        </p:nvSpPr>
        <p:spPr/>
        <p:txBody>
          <a:bodyPr/>
          <a:lstStyle/>
          <a:p>
            <a:fld id="{EBD96BED-FE66-48B4-9A95-F6DD9B463046}" type="slidenum">
              <a:rPr lang="en-IN" smtClean="0"/>
              <a:t>‹#›</a:t>
            </a:fld>
            <a:endParaRPr lang="en-IN"/>
          </a:p>
        </p:txBody>
      </p:sp>
    </p:spTree>
    <p:extLst>
      <p:ext uri="{BB962C8B-B14F-4D97-AF65-F5344CB8AC3E}">
        <p14:creationId xmlns:p14="http://schemas.microsoft.com/office/powerpoint/2010/main" val="1684728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58F7A-7298-4AFC-BB02-B99F74A516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1321F0-17CE-F615-817C-0BD35E9413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E5877E-7E2A-F609-48A0-F3EFF49C483E}"/>
              </a:ext>
            </a:extLst>
          </p:cNvPr>
          <p:cNvSpPr>
            <a:spLocks noGrp="1"/>
          </p:cNvSpPr>
          <p:nvPr>
            <p:ph type="dt" sz="half" idx="10"/>
          </p:nvPr>
        </p:nvSpPr>
        <p:spPr/>
        <p:txBody>
          <a:bodyPr/>
          <a:lstStyle/>
          <a:p>
            <a:fld id="{EEC315ED-F12D-4025-A3CD-0C33106EA6D3}" type="datetimeFigureOut">
              <a:rPr lang="en-IN" smtClean="0"/>
              <a:t>03-06-2025</a:t>
            </a:fld>
            <a:endParaRPr lang="en-IN"/>
          </a:p>
        </p:txBody>
      </p:sp>
      <p:sp>
        <p:nvSpPr>
          <p:cNvPr id="5" name="Footer Placeholder 4">
            <a:extLst>
              <a:ext uri="{FF2B5EF4-FFF2-40B4-BE49-F238E27FC236}">
                <a16:creationId xmlns:a16="http://schemas.microsoft.com/office/drawing/2014/main" id="{03428DEA-4E50-2921-1EAF-5CCF067B2D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0668B8-61E3-8FF3-C1BC-A30745EFA48D}"/>
              </a:ext>
            </a:extLst>
          </p:cNvPr>
          <p:cNvSpPr>
            <a:spLocks noGrp="1"/>
          </p:cNvSpPr>
          <p:nvPr>
            <p:ph type="sldNum" sz="quarter" idx="12"/>
          </p:nvPr>
        </p:nvSpPr>
        <p:spPr/>
        <p:txBody>
          <a:bodyPr/>
          <a:lstStyle/>
          <a:p>
            <a:fld id="{EBD96BED-FE66-48B4-9A95-F6DD9B463046}" type="slidenum">
              <a:rPr lang="en-IN" smtClean="0"/>
              <a:t>‹#›</a:t>
            </a:fld>
            <a:endParaRPr lang="en-IN"/>
          </a:p>
        </p:txBody>
      </p:sp>
    </p:spTree>
    <p:extLst>
      <p:ext uri="{BB962C8B-B14F-4D97-AF65-F5344CB8AC3E}">
        <p14:creationId xmlns:p14="http://schemas.microsoft.com/office/powerpoint/2010/main" val="2462892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9A0B16-D41C-41F7-D1DA-4B740AF7D1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7485D4-7A56-0B65-14C0-546AB0EFBC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FFC4F3-737A-7A08-46FC-A0EC57D63EF5}"/>
              </a:ext>
            </a:extLst>
          </p:cNvPr>
          <p:cNvSpPr>
            <a:spLocks noGrp="1"/>
          </p:cNvSpPr>
          <p:nvPr>
            <p:ph type="dt" sz="half" idx="10"/>
          </p:nvPr>
        </p:nvSpPr>
        <p:spPr/>
        <p:txBody>
          <a:bodyPr/>
          <a:lstStyle/>
          <a:p>
            <a:fld id="{EEC315ED-F12D-4025-A3CD-0C33106EA6D3}" type="datetimeFigureOut">
              <a:rPr lang="en-IN" smtClean="0"/>
              <a:t>03-06-2025</a:t>
            </a:fld>
            <a:endParaRPr lang="en-IN"/>
          </a:p>
        </p:txBody>
      </p:sp>
      <p:sp>
        <p:nvSpPr>
          <p:cNvPr id="5" name="Footer Placeholder 4">
            <a:extLst>
              <a:ext uri="{FF2B5EF4-FFF2-40B4-BE49-F238E27FC236}">
                <a16:creationId xmlns:a16="http://schemas.microsoft.com/office/drawing/2014/main" id="{A67992DD-DBA2-AB68-FA62-739B19B4B9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8DAD58-5EAD-C2FA-CE85-375DFD8D3FAD}"/>
              </a:ext>
            </a:extLst>
          </p:cNvPr>
          <p:cNvSpPr>
            <a:spLocks noGrp="1"/>
          </p:cNvSpPr>
          <p:nvPr>
            <p:ph type="sldNum" sz="quarter" idx="12"/>
          </p:nvPr>
        </p:nvSpPr>
        <p:spPr/>
        <p:txBody>
          <a:bodyPr/>
          <a:lstStyle/>
          <a:p>
            <a:fld id="{EBD96BED-FE66-48B4-9A95-F6DD9B463046}" type="slidenum">
              <a:rPr lang="en-IN" smtClean="0"/>
              <a:t>‹#›</a:t>
            </a:fld>
            <a:endParaRPr lang="en-IN"/>
          </a:p>
        </p:txBody>
      </p:sp>
    </p:spTree>
    <p:extLst>
      <p:ext uri="{BB962C8B-B14F-4D97-AF65-F5344CB8AC3E}">
        <p14:creationId xmlns:p14="http://schemas.microsoft.com/office/powerpoint/2010/main" val="2036934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6945C0-F5FD-833E-7A07-BEC63B77BF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835363-7738-A0C2-736C-DD815B2A77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FDABCD-A7C4-BFE8-52BE-8E8B8DB838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C315ED-F12D-4025-A3CD-0C33106EA6D3}" type="datetimeFigureOut">
              <a:rPr lang="en-IN" smtClean="0"/>
              <a:t>03-06-2025</a:t>
            </a:fld>
            <a:endParaRPr lang="en-IN"/>
          </a:p>
        </p:txBody>
      </p:sp>
      <p:sp>
        <p:nvSpPr>
          <p:cNvPr id="5" name="Footer Placeholder 4">
            <a:extLst>
              <a:ext uri="{FF2B5EF4-FFF2-40B4-BE49-F238E27FC236}">
                <a16:creationId xmlns:a16="http://schemas.microsoft.com/office/drawing/2014/main" id="{A2F2B49E-C45A-1561-7EAE-C2E3BF0A31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188645D-67A3-7CC1-BE8E-0D88D9481D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D96BED-FE66-48B4-9A95-F6DD9B463046}" type="slidenum">
              <a:rPr lang="en-IN" smtClean="0"/>
              <a:t>‹#›</a:t>
            </a:fld>
            <a:endParaRPr lang="en-IN"/>
          </a:p>
        </p:txBody>
      </p:sp>
    </p:spTree>
    <p:extLst>
      <p:ext uri="{BB962C8B-B14F-4D97-AF65-F5344CB8AC3E}">
        <p14:creationId xmlns:p14="http://schemas.microsoft.com/office/powerpoint/2010/main" val="3190030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9245B4B-DF26-4D48-A9EA-BA77D6A26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3">
            <a:extLst>
              <a:ext uri="{FF2B5EF4-FFF2-40B4-BE49-F238E27FC236}">
                <a16:creationId xmlns:a16="http://schemas.microsoft.com/office/drawing/2014/main" id="{5DF81A16-01C2-36CB-8A1C-92B926332631}"/>
              </a:ext>
            </a:extLst>
          </p:cNvPr>
          <p:cNvSpPr>
            <a:spLocks noGrp="1"/>
          </p:cNvSpPr>
          <p:nvPr>
            <p:ph type="title"/>
          </p:nvPr>
        </p:nvSpPr>
        <p:spPr/>
        <p:txBody>
          <a:bodyPr/>
          <a:lstStyle/>
          <a:p>
            <a:endParaRPr lang="en-IN" dirty="0"/>
          </a:p>
        </p:txBody>
      </p:sp>
      <p:sp>
        <p:nvSpPr>
          <p:cNvPr id="5" name="Content Placeholder 4">
            <a:extLst>
              <a:ext uri="{FF2B5EF4-FFF2-40B4-BE49-F238E27FC236}">
                <a16:creationId xmlns:a16="http://schemas.microsoft.com/office/drawing/2014/main" id="{4CE59CB1-C7F4-ACF7-4739-D773038F0E9B}"/>
              </a:ext>
            </a:extLst>
          </p:cNvPr>
          <p:cNvSpPr>
            <a:spLocks noGrp="1"/>
          </p:cNvSpPr>
          <p:nvPr>
            <p:ph idx="1"/>
          </p:nvPr>
        </p:nvSpPr>
        <p:spPr>
          <a:xfrm>
            <a:off x="838200" y="1494263"/>
            <a:ext cx="10515600" cy="4682700"/>
          </a:xfrm>
        </p:spPr>
        <p:txBody>
          <a:bodyPr>
            <a:normAutofit fontScale="47500" lnSpcReduction="20000"/>
          </a:bodyPr>
          <a:lstStyle/>
          <a:p>
            <a:pPr marL="0" indent="0" algn="ctr">
              <a:buNone/>
            </a:pPr>
            <a:endParaRPr lang="en-US" sz="5900" dirty="0">
              <a:latin typeface="Dubai Medium" panose="020B0603030403030204" pitchFamily="34" charset="-78"/>
              <a:cs typeface="Dubai Medium" panose="020B0603030403030204" pitchFamily="34" charset="-78"/>
            </a:endParaRPr>
          </a:p>
          <a:p>
            <a:pPr marL="0" indent="0" algn="ctr">
              <a:buNone/>
            </a:pPr>
            <a:r>
              <a:rPr lang="en-US" sz="5900" dirty="0">
                <a:latin typeface="Dubai Medium" panose="020B0603030403030204" pitchFamily="34" charset="-78"/>
                <a:cs typeface="Dubai Medium" panose="020B0603030403030204" pitchFamily="34" charset="-78"/>
              </a:rPr>
              <a:t>Department Of Computer Science And Engineering Computer Science And Design Program</a:t>
            </a:r>
          </a:p>
          <a:p>
            <a:pPr marL="0" indent="0" algn="ctr">
              <a:buNone/>
            </a:pPr>
            <a:endParaRPr lang="en-US" sz="5800" dirty="0">
              <a:latin typeface="Dubai Medium" panose="020B0603030403030204" pitchFamily="34" charset="-78"/>
              <a:cs typeface="Dubai Medium" panose="020B0603030403030204" pitchFamily="34" charset="-78"/>
            </a:endParaRPr>
          </a:p>
          <a:p>
            <a:pPr marL="0" indent="0" algn="ctr">
              <a:buNone/>
            </a:pPr>
            <a:r>
              <a:rPr lang="en-US" sz="5800" dirty="0">
                <a:latin typeface="Dubai Medium" panose="020B0603030403030204" pitchFamily="34" charset="-78"/>
                <a:cs typeface="Dubai Medium" panose="020B0603030403030204" pitchFamily="34" charset="-78"/>
              </a:rPr>
              <a:t>Topic</a:t>
            </a:r>
            <a:r>
              <a:rPr lang="en-US" sz="5800" b="1" dirty="0">
                <a:latin typeface="Dubai Medium" panose="020B0603030403030204" pitchFamily="34" charset="-78"/>
                <a:cs typeface="Dubai Medium" panose="020B0603030403030204" pitchFamily="34" charset="-78"/>
              </a:rPr>
              <a:t>:  AI Powered Medical Chatbot</a:t>
            </a:r>
          </a:p>
          <a:p>
            <a:pPr marL="0" indent="0" algn="ctr">
              <a:buNone/>
            </a:pPr>
            <a:r>
              <a:rPr lang="en-US" sz="5100" u="sng" dirty="0">
                <a:solidFill>
                  <a:schemeClr val="accent3">
                    <a:lumMod val="50000"/>
                  </a:schemeClr>
                </a:solidFill>
                <a:latin typeface="Dubai Medium" panose="020B0603030403030204" pitchFamily="34" charset="-78"/>
                <a:cs typeface="Dubai Medium" panose="020B0603030403030204" pitchFamily="34" charset="-78"/>
              </a:rPr>
              <a:t>Presented by </a:t>
            </a:r>
          </a:p>
          <a:p>
            <a:pPr marL="0" indent="0" algn="ctr">
              <a:buNone/>
            </a:pPr>
            <a:endParaRPr lang="en-US" dirty="0">
              <a:solidFill>
                <a:schemeClr val="accent3">
                  <a:lumMod val="50000"/>
                </a:schemeClr>
              </a:solidFill>
              <a:latin typeface="Dubai Medium" panose="020B0603030403030204" pitchFamily="34" charset="-78"/>
              <a:cs typeface="Dubai Medium" panose="020B0603030403030204" pitchFamily="34" charset="-78"/>
            </a:endParaRPr>
          </a:p>
          <a:p>
            <a:pPr marL="0" indent="0" algn="ctr">
              <a:buNone/>
            </a:pPr>
            <a:r>
              <a:rPr lang="en-US" sz="3800" dirty="0">
                <a:solidFill>
                  <a:srgbClr val="C00000"/>
                </a:solidFill>
                <a:latin typeface="Dubai Medium" panose="020B0603030403030204" pitchFamily="34" charset="-78"/>
                <a:cs typeface="Dubai Medium" panose="020B0603030403030204" pitchFamily="34" charset="-78"/>
              </a:rPr>
              <a:t>Madiha Azam : 3PD22CG048</a:t>
            </a:r>
          </a:p>
          <a:p>
            <a:pPr marL="0" indent="0" algn="ctr">
              <a:buNone/>
            </a:pPr>
            <a:r>
              <a:rPr lang="en-US" sz="3800" dirty="0">
                <a:solidFill>
                  <a:srgbClr val="C00000"/>
                </a:solidFill>
                <a:latin typeface="Dubai Medium" panose="020B0603030403030204" pitchFamily="34" charset="-78"/>
                <a:cs typeface="Dubai Medium" panose="020B0603030403030204" pitchFamily="34" charset="-78"/>
              </a:rPr>
              <a:t>Bhagyashree C :3PD22CG006</a:t>
            </a:r>
          </a:p>
          <a:p>
            <a:pPr marL="0" indent="0" algn="ctr">
              <a:buNone/>
            </a:pPr>
            <a:r>
              <a:rPr lang="en-US" sz="3800" dirty="0">
                <a:solidFill>
                  <a:srgbClr val="C00000"/>
                </a:solidFill>
                <a:latin typeface="Dubai Medium" panose="020B0603030403030204" pitchFamily="34" charset="-78"/>
                <a:cs typeface="Dubai Medium" panose="020B0603030403030204" pitchFamily="34" charset="-78"/>
              </a:rPr>
              <a:t>Bhagyashree G :3PD22CG007</a:t>
            </a:r>
          </a:p>
          <a:p>
            <a:pPr marL="0" indent="0" algn="ctr">
              <a:buNone/>
            </a:pPr>
            <a:endParaRPr lang="en-US" dirty="0">
              <a:solidFill>
                <a:srgbClr val="C00000"/>
              </a:solidFill>
              <a:latin typeface="Dubai Medium" panose="020B0603030403030204" pitchFamily="34" charset="-78"/>
              <a:cs typeface="Dubai Medium" panose="020B0603030403030204" pitchFamily="34" charset="-78"/>
            </a:endParaRPr>
          </a:p>
          <a:p>
            <a:pPr marL="0" indent="0" algn="ctr">
              <a:buNone/>
            </a:pPr>
            <a:r>
              <a:rPr lang="en-US" sz="4200" u="sng" dirty="0">
                <a:solidFill>
                  <a:schemeClr val="tx2">
                    <a:lumMod val="50000"/>
                  </a:schemeClr>
                </a:solidFill>
                <a:latin typeface="Dubai Medium" panose="020B0603030403030204" pitchFamily="34" charset="-78"/>
                <a:cs typeface="Dubai Medium" panose="020B0603030403030204" pitchFamily="34" charset="-78"/>
              </a:rPr>
              <a:t>Guided by</a:t>
            </a:r>
          </a:p>
          <a:p>
            <a:pPr marL="0" indent="0" algn="ctr">
              <a:buNone/>
            </a:pPr>
            <a:r>
              <a:rPr lang="en-US" sz="4200" dirty="0">
                <a:solidFill>
                  <a:srgbClr val="C00000"/>
                </a:solidFill>
                <a:latin typeface="Dubai Medium" panose="020B0603030403030204" pitchFamily="34" charset="-78"/>
                <a:cs typeface="Dubai Medium" panose="020B0603030403030204" pitchFamily="34" charset="-78"/>
              </a:rPr>
              <a:t>Dr. Prakash Pattan</a:t>
            </a:r>
          </a:p>
          <a:p>
            <a:pPr marL="0" indent="0" algn="ctr">
              <a:buNone/>
            </a:pPr>
            <a:endParaRPr lang="en-US" dirty="0">
              <a:solidFill>
                <a:srgbClr val="7030A0"/>
              </a:solidFill>
              <a:latin typeface="Dubai Medium" panose="020B0603030403030204" pitchFamily="34" charset="-78"/>
              <a:cs typeface="Dubai Medium" panose="020B0603030403030204" pitchFamily="34" charset="-78"/>
            </a:endParaRPr>
          </a:p>
          <a:p>
            <a:endParaRPr lang="en-IN" dirty="0"/>
          </a:p>
        </p:txBody>
      </p:sp>
      <p:pic>
        <p:nvPicPr>
          <p:cNvPr id="9" name="Picture 8">
            <a:extLst>
              <a:ext uri="{FF2B5EF4-FFF2-40B4-BE49-F238E27FC236}">
                <a16:creationId xmlns:a16="http://schemas.microsoft.com/office/drawing/2014/main" id="{73223EE4-3BEC-8856-73F1-FF0846A0B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65125"/>
            <a:ext cx="10515599" cy="917265"/>
          </a:xfrm>
          <a:prstGeom prst="rect">
            <a:avLst/>
          </a:prstGeom>
        </p:spPr>
      </p:pic>
    </p:spTree>
    <p:extLst>
      <p:ext uri="{BB962C8B-B14F-4D97-AF65-F5344CB8AC3E}">
        <p14:creationId xmlns:p14="http://schemas.microsoft.com/office/powerpoint/2010/main" val="2685112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B03AF6-FFC2-2A17-9D8F-9DE3457B5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5A35DAF-975F-5032-5489-F328D364F57A}"/>
              </a:ext>
            </a:extLst>
          </p:cNvPr>
          <p:cNvSpPr>
            <a:spLocks noGrp="1"/>
          </p:cNvSpPr>
          <p:nvPr>
            <p:ph type="title"/>
          </p:nvPr>
        </p:nvSpPr>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AD84ED3E-DE18-C7A8-3E94-404F7DC879F6}"/>
              </a:ext>
            </a:extLst>
          </p:cNvPr>
          <p:cNvSpPr>
            <a:spLocks noGrp="1"/>
          </p:cNvSpPr>
          <p:nvPr>
            <p:ph idx="1"/>
          </p:nvPr>
        </p:nvSpPr>
        <p:spPr>
          <a:xfrm>
            <a:off x="838200" y="1825625"/>
            <a:ext cx="6072554" cy="4351338"/>
          </a:xfrm>
        </p:spPr>
        <p:txBody>
          <a:bodyPr>
            <a:normAutofit/>
          </a:bodyPr>
          <a:lstStyle/>
          <a:p>
            <a:pPr marL="0" indent="0">
              <a:buNone/>
            </a:pPr>
            <a:r>
              <a:rPr lang="en-US" sz="2000" dirty="0"/>
              <a:t>AI-powered medical chatbots are reshaping healthcare by offering quick and efficient medical support. Chatbots use advanced AI, including multimodal Large Language Models (LLMs) l to process both text and images for better diagnosis and medical assistance. This enables users to receive instant health advice, symptom analysis, and medication guidance without waiting for a doctor’s appointment. By integrating vision and text-based understanding, the chatbot enhances accuracy and provides more personalized responses. While it helps reduce the burden on healthcare professionals and improves patient accessibility, challenges such as data security, reliability, and compliance with medical regulations must be addressed. </a:t>
            </a:r>
            <a:endParaRPr lang="en-IN" sz="2000" dirty="0"/>
          </a:p>
        </p:txBody>
      </p:sp>
      <p:pic>
        <p:nvPicPr>
          <p:cNvPr id="7" name="Picture 6">
            <a:extLst>
              <a:ext uri="{FF2B5EF4-FFF2-40B4-BE49-F238E27FC236}">
                <a16:creationId xmlns:a16="http://schemas.microsoft.com/office/drawing/2014/main" id="{422F3733-1656-76C7-7004-E4D8274F95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2831" y="1529862"/>
            <a:ext cx="4853353" cy="4251813"/>
          </a:xfrm>
          <a:prstGeom prst="rect">
            <a:avLst/>
          </a:prstGeom>
        </p:spPr>
      </p:pic>
    </p:spTree>
    <p:extLst>
      <p:ext uri="{BB962C8B-B14F-4D97-AF65-F5344CB8AC3E}">
        <p14:creationId xmlns:p14="http://schemas.microsoft.com/office/powerpoint/2010/main" val="1594522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D74557-130A-B238-006B-96E23E1DE0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BC898E1-D724-9B92-C32C-FC5827AADC14}"/>
              </a:ext>
            </a:extLst>
          </p:cNvPr>
          <p:cNvSpPr>
            <a:spLocks noGrp="1"/>
          </p:cNvSpPr>
          <p:nvPr>
            <p:ph type="title"/>
          </p:nvPr>
        </p:nvSpPr>
        <p:spPr/>
        <p:txBody>
          <a:bodyPr/>
          <a:lstStyle/>
          <a:p>
            <a:r>
              <a:rPr lang="en-US" b="1" dirty="0"/>
              <a:t>Abstract</a:t>
            </a:r>
            <a:endParaRPr lang="en-IN" b="1" dirty="0"/>
          </a:p>
        </p:txBody>
      </p:sp>
      <p:sp>
        <p:nvSpPr>
          <p:cNvPr id="3" name="Content Placeholder 2">
            <a:extLst>
              <a:ext uri="{FF2B5EF4-FFF2-40B4-BE49-F238E27FC236}">
                <a16:creationId xmlns:a16="http://schemas.microsoft.com/office/drawing/2014/main" id="{1968ADA6-18A9-7874-1158-FF7D03B5954D}"/>
              </a:ext>
            </a:extLst>
          </p:cNvPr>
          <p:cNvSpPr>
            <a:spLocks noGrp="1"/>
          </p:cNvSpPr>
          <p:nvPr>
            <p:ph idx="1"/>
          </p:nvPr>
        </p:nvSpPr>
        <p:spPr>
          <a:xfrm>
            <a:off x="838200" y="1825625"/>
            <a:ext cx="9281746" cy="4351338"/>
          </a:xfrm>
        </p:spPr>
        <p:txBody>
          <a:bodyPr>
            <a:normAutofit/>
          </a:bodyPr>
          <a:lstStyle/>
          <a:p>
            <a:pPr marL="0" indent="0">
              <a:buNone/>
            </a:pPr>
            <a:r>
              <a:rPr lang="en-US" sz="2000" dirty="0"/>
              <a:t>AI-powered medical chatbot uses advanced technology to understand both text and images, providing quick and accurate medical insights. Built with </a:t>
            </a:r>
            <a:r>
              <a:rPr lang="en-US" sz="2000" b="1" dirty="0" err="1"/>
              <a:t>Groq’s</a:t>
            </a:r>
            <a:r>
              <a:rPr lang="en-US" sz="2000" dirty="0"/>
              <a:t> multimodal Large Language Model (LLM), it can analyze symptoms, interpret medical images, and offer helpful health guidance. The chatbot assists users with symptom checking, basic diagnosis, medication advice, and appointment reminders. By combining text and vision capabilities, it delivers more accurate and relevant responses, making healthcare support more accessible and efficient. While this technology improves patient care and reduces the workload on doctors, challenges like data privacy and accuracy need to be carefully managed. Overall, this chatbot shows how AI can improve digital healthcare and make medical help available anytime, anywhere.</a:t>
            </a:r>
            <a:endParaRPr lang="en-IN" sz="2000" dirty="0"/>
          </a:p>
        </p:txBody>
      </p:sp>
    </p:spTree>
    <p:extLst>
      <p:ext uri="{BB962C8B-B14F-4D97-AF65-F5344CB8AC3E}">
        <p14:creationId xmlns:p14="http://schemas.microsoft.com/office/powerpoint/2010/main" val="232666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F267F54-C8E5-E164-914E-6F57549D4E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DAA5788-15A1-5002-15D7-8832354B779A}"/>
              </a:ext>
            </a:extLst>
          </p:cNvPr>
          <p:cNvSpPr>
            <a:spLocks noGrp="1"/>
          </p:cNvSpPr>
          <p:nvPr>
            <p:ph type="title"/>
          </p:nvPr>
        </p:nvSpPr>
        <p:spPr>
          <a:xfrm>
            <a:off x="235973" y="365125"/>
            <a:ext cx="11562737" cy="782955"/>
          </a:xfrm>
        </p:spPr>
        <p:txBody>
          <a:bodyPr/>
          <a:lstStyle/>
          <a:p>
            <a:r>
              <a:rPr lang="en-US" b="1" dirty="0"/>
              <a:t>Literature survey</a:t>
            </a:r>
            <a:endParaRPr lang="en-IN" b="1" dirty="0"/>
          </a:p>
        </p:txBody>
      </p:sp>
      <p:graphicFrame>
        <p:nvGraphicFramePr>
          <p:cNvPr id="7" name="Content Placeholder 6">
            <a:extLst>
              <a:ext uri="{FF2B5EF4-FFF2-40B4-BE49-F238E27FC236}">
                <a16:creationId xmlns:a16="http://schemas.microsoft.com/office/drawing/2014/main" id="{4120E987-5DBF-6D56-2E50-EC919EA041B3}"/>
              </a:ext>
            </a:extLst>
          </p:cNvPr>
          <p:cNvGraphicFramePr>
            <a:graphicFrameLocks noGrp="1"/>
          </p:cNvGraphicFramePr>
          <p:nvPr>
            <p:ph idx="1"/>
            <p:extLst>
              <p:ext uri="{D42A27DB-BD31-4B8C-83A1-F6EECF244321}">
                <p14:modId xmlns:p14="http://schemas.microsoft.com/office/powerpoint/2010/main" val="2995462162"/>
              </p:ext>
            </p:extLst>
          </p:nvPr>
        </p:nvGraphicFramePr>
        <p:xfrm>
          <a:off x="235974" y="1381760"/>
          <a:ext cx="11712186" cy="5161651"/>
        </p:xfrm>
        <a:graphic>
          <a:graphicData uri="http://schemas.openxmlformats.org/drawingml/2006/table">
            <a:tbl>
              <a:tblPr firstRow="1" bandRow="1">
                <a:tableStyleId>{5C22544A-7EE6-4342-B048-85BDC9FD1C3A}</a:tableStyleId>
              </a:tblPr>
              <a:tblGrid>
                <a:gridCol w="2920608">
                  <a:extLst>
                    <a:ext uri="{9D8B030D-6E8A-4147-A177-3AD203B41FA5}">
                      <a16:colId xmlns:a16="http://schemas.microsoft.com/office/drawing/2014/main" val="1560120060"/>
                    </a:ext>
                  </a:extLst>
                </a:gridCol>
                <a:gridCol w="2930526">
                  <a:extLst>
                    <a:ext uri="{9D8B030D-6E8A-4147-A177-3AD203B41FA5}">
                      <a16:colId xmlns:a16="http://schemas.microsoft.com/office/drawing/2014/main" val="2729440469"/>
                    </a:ext>
                  </a:extLst>
                </a:gridCol>
                <a:gridCol w="2930526">
                  <a:extLst>
                    <a:ext uri="{9D8B030D-6E8A-4147-A177-3AD203B41FA5}">
                      <a16:colId xmlns:a16="http://schemas.microsoft.com/office/drawing/2014/main" val="2779116116"/>
                    </a:ext>
                  </a:extLst>
                </a:gridCol>
                <a:gridCol w="2930526">
                  <a:extLst>
                    <a:ext uri="{9D8B030D-6E8A-4147-A177-3AD203B41FA5}">
                      <a16:colId xmlns:a16="http://schemas.microsoft.com/office/drawing/2014/main" val="3355877670"/>
                    </a:ext>
                  </a:extLst>
                </a:gridCol>
              </a:tblGrid>
              <a:tr h="334227">
                <a:tc>
                  <a:txBody>
                    <a:bodyPr/>
                    <a:lstStyle/>
                    <a:p>
                      <a:r>
                        <a:rPr lang="en-US" dirty="0"/>
                        <a:t>Paper title </a:t>
                      </a:r>
                      <a:endParaRPr lang="en-IN" dirty="0"/>
                    </a:p>
                  </a:txBody>
                  <a:tcPr/>
                </a:tc>
                <a:tc>
                  <a:txBody>
                    <a:bodyPr/>
                    <a:lstStyle/>
                    <a:p>
                      <a:r>
                        <a:rPr lang="en-US" dirty="0"/>
                        <a:t>Author</a:t>
                      </a:r>
                      <a:endParaRPr lang="en-IN" dirty="0"/>
                    </a:p>
                  </a:txBody>
                  <a:tcPr/>
                </a:tc>
                <a:tc>
                  <a:txBody>
                    <a:bodyPr/>
                    <a:lstStyle/>
                    <a:p>
                      <a:r>
                        <a:rPr lang="en-US" dirty="0"/>
                        <a:t>Pros</a:t>
                      </a:r>
                      <a:endParaRPr lang="en-IN" dirty="0"/>
                    </a:p>
                  </a:txBody>
                  <a:tcPr/>
                </a:tc>
                <a:tc>
                  <a:txBody>
                    <a:bodyPr/>
                    <a:lstStyle/>
                    <a:p>
                      <a:r>
                        <a:rPr lang="en-US" dirty="0"/>
                        <a:t>Cons</a:t>
                      </a:r>
                      <a:endParaRPr lang="en-IN" dirty="0"/>
                    </a:p>
                  </a:txBody>
                  <a:tcPr/>
                </a:tc>
                <a:extLst>
                  <a:ext uri="{0D108BD9-81ED-4DB2-BD59-A6C34878D82A}">
                    <a16:rowId xmlns:a16="http://schemas.microsoft.com/office/drawing/2014/main" val="1262725003"/>
                  </a:ext>
                </a:extLst>
              </a:tr>
              <a:tr h="1086238">
                <a:tc>
                  <a:txBody>
                    <a:bodyPr/>
                    <a:lstStyle/>
                    <a:p>
                      <a:r>
                        <a:rPr lang="en-US" dirty="0"/>
                        <a:t>Chatbot for Healthcare System Using AI</a:t>
                      </a:r>
                      <a:endParaRPr lang="en-IN" dirty="0"/>
                    </a:p>
                  </a:txBody>
                  <a:tcPr/>
                </a:tc>
                <a:tc>
                  <a:txBody>
                    <a:bodyPr/>
                    <a:lstStyle/>
                    <a:p>
                      <a:r>
                        <a:rPr lang="en-IN" dirty="0" err="1"/>
                        <a:t>Athota</a:t>
                      </a:r>
                      <a:r>
                        <a:rPr lang="en-IN" dirty="0"/>
                        <a:t> et al.</a:t>
                      </a:r>
                    </a:p>
                  </a:txBody>
                  <a:tcPr/>
                </a:tc>
                <a:tc>
                  <a:txBody>
                    <a:bodyPr/>
                    <a:lstStyle/>
                    <a:p>
                      <a:r>
                        <a:rPr lang="en-US" dirty="0"/>
                        <a:t>Demonstrates the potential of AI-powered chatbots in providing accurate medical information and assistance.</a:t>
                      </a:r>
                      <a:endParaRPr lang="en-IN" dirty="0"/>
                    </a:p>
                  </a:txBody>
                  <a:tcPr/>
                </a:tc>
                <a:tc>
                  <a:txBody>
                    <a:bodyPr/>
                    <a:lstStyle/>
                    <a:p>
                      <a:r>
                        <a:rPr lang="en-US" dirty="0"/>
                        <a:t>May require significant computational resources for real-time processing.</a:t>
                      </a:r>
                      <a:endParaRPr lang="en-IN" dirty="0"/>
                    </a:p>
                  </a:txBody>
                  <a:tcPr/>
                </a:tc>
                <a:extLst>
                  <a:ext uri="{0D108BD9-81ED-4DB2-BD59-A6C34878D82A}">
                    <a16:rowId xmlns:a16="http://schemas.microsoft.com/office/drawing/2014/main" val="500597722"/>
                  </a:ext>
                </a:extLst>
              </a:tr>
              <a:tr h="835567">
                <a:tc>
                  <a:txBody>
                    <a:bodyPr/>
                    <a:lstStyle/>
                    <a:p>
                      <a:r>
                        <a:rPr lang="en-IN" dirty="0"/>
                        <a:t>Automatized Medical Chatbot (</a:t>
                      </a:r>
                      <a:r>
                        <a:rPr lang="en-IN" dirty="0" err="1"/>
                        <a:t>Medibot</a:t>
                      </a:r>
                      <a:r>
                        <a:rPr lang="en-IN" dirty="0"/>
                        <a:t>)</a:t>
                      </a:r>
                    </a:p>
                  </a:txBody>
                  <a:tcPr/>
                </a:tc>
                <a:tc>
                  <a:txBody>
                    <a:bodyPr/>
                    <a:lstStyle/>
                    <a:p>
                      <a:r>
                        <a:rPr lang="en-IN" dirty="0"/>
                        <a:t>Srivastava and Singh</a:t>
                      </a:r>
                    </a:p>
                  </a:txBody>
                  <a:tcPr/>
                </a:tc>
                <a:tc>
                  <a:txBody>
                    <a:bodyPr/>
                    <a:lstStyle/>
                    <a:p>
                      <a:r>
                        <a:rPr lang="en-US" dirty="0"/>
                        <a:t>Highlights the importance of personalized healthcare solutions.</a:t>
                      </a:r>
                      <a:endParaRPr lang="en-IN" dirty="0"/>
                    </a:p>
                  </a:txBody>
                  <a:tcPr/>
                </a:tc>
                <a:tc>
                  <a:txBody>
                    <a:bodyPr/>
                    <a:lstStyle/>
                    <a:p>
                      <a:r>
                        <a:rPr lang="en-US" dirty="0"/>
                        <a:t>Development of specialized chatbots may limit scalability.</a:t>
                      </a:r>
                      <a:endParaRPr lang="en-IN" dirty="0"/>
                    </a:p>
                  </a:txBody>
                  <a:tcPr/>
                </a:tc>
                <a:extLst>
                  <a:ext uri="{0D108BD9-81ED-4DB2-BD59-A6C34878D82A}">
                    <a16:rowId xmlns:a16="http://schemas.microsoft.com/office/drawing/2014/main" val="1008894407"/>
                  </a:ext>
                </a:extLst>
              </a:tr>
              <a:tr h="1086238">
                <a:tc>
                  <a:txBody>
                    <a:bodyPr/>
                    <a:lstStyle/>
                    <a:p>
                      <a:r>
                        <a:rPr lang="en-US" dirty="0"/>
                        <a:t>E-Health Bot to Change the Face of Medicare</a:t>
                      </a:r>
                      <a:endParaRPr lang="en-IN" dirty="0"/>
                    </a:p>
                  </a:txBody>
                  <a:tcPr/>
                </a:tc>
                <a:tc>
                  <a:txBody>
                    <a:bodyPr/>
                    <a:lstStyle/>
                    <a:p>
                      <a:r>
                        <a:rPr lang="en-IN" dirty="0"/>
                        <a:t>Tanmay et al.</a:t>
                      </a:r>
                    </a:p>
                  </a:txBody>
                  <a:tcPr/>
                </a:tc>
                <a:tc>
                  <a:txBody>
                    <a:bodyPr/>
                    <a:lstStyle/>
                    <a:p>
                      <a:r>
                        <a:rPr lang="en-US" dirty="0"/>
                        <a:t>Illustrates the transformative potential of chatbots in reshaping healthcare delivery models.</a:t>
                      </a:r>
                      <a:endParaRPr lang="en-IN" dirty="0"/>
                    </a:p>
                  </a:txBody>
                  <a:tcPr/>
                </a:tc>
                <a:tc>
                  <a:txBody>
                    <a:bodyPr/>
                    <a:lstStyle/>
                    <a:p>
                      <a:r>
                        <a:rPr lang="en-US" dirty="0"/>
                        <a:t>Reliance on real-time data may introduce challenges in data accuracy and integration.</a:t>
                      </a:r>
                      <a:endParaRPr lang="en-IN" dirty="0"/>
                    </a:p>
                  </a:txBody>
                  <a:tcPr/>
                </a:tc>
                <a:extLst>
                  <a:ext uri="{0D108BD9-81ED-4DB2-BD59-A6C34878D82A}">
                    <a16:rowId xmlns:a16="http://schemas.microsoft.com/office/drawing/2014/main" val="3961414322"/>
                  </a:ext>
                </a:extLst>
              </a:tr>
              <a:tr h="1504051">
                <a:tc>
                  <a:txBody>
                    <a:bodyPr/>
                    <a:lstStyle/>
                    <a:p>
                      <a:r>
                        <a:rPr lang="en-US" dirty="0"/>
                        <a:t>Chatbot for Disease Prediction and Treatment Recommendation using ML</a:t>
                      </a:r>
                      <a:endParaRPr lang="en-IN" dirty="0"/>
                    </a:p>
                  </a:txBody>
                  <a:tcPr/>
                </a:tc>
                <a:tc>
                  <a:txBody>
                    <a:bodyPr/>
                    <a:lstStyle/>
                    <a:p>
                      <a:r>
                        <a:rPr lang="en-IN" dirty="0"/>
                        <a:t>Mathew et al.</a:t>
                      </a:r>
                    </a:p>
                  </a:txBody>
                  <a:tcPr/>
                </a:tc>
                <a:tc>
                  <a:txBody>
                    <a:bodyPr/>
                    <a:lstStyle/>
                    <a:p>
                      <a:r>
                        <a:rPr lang="en-US" dirty="0"/>
                        <a:t>Focuses on enhancing predictive capabilities of medical chatbots through machine learning techniques.</a:t>
                      </a:r>
                      <a:endParaRPr lang="en-IN" dirty="0"/>
                    </a:p>
                  </a:txBody>
                  <a:tcPr/>
                </a:tc>
                <a:tc>
                  <a:txBody>
                    <a:bodyPr/>
                    <a:lstStyle/>
                    <a:p>
                      <a:r>
                        <a:rPr lang="en-US" dirty="0"/>
                        <a:t>May face challenges in interpreting complex medical data accurately, leading to potential misdiagnosis or recommendations.</a:t>
                      </a:r>
                      <a:endParaRPr lang="en-IN" dirty="0"/>
                    </a:p>
                  </a:txBody>
                  <a:tcPr/>
                </a:tc>
                <a:extLst>
                  <a:ext uri="{0D108BD9-81ED-4DB2-BD59-A6C34878D82A}">
                    <a16:rowId xmlns:a16="http://schemas.microsoft.com/office/drawing/2014/main" val="2091151726"/>
                  </a:ext>
                </a:extLst>
              </a:tr>
            </a:tbl>
          </a:graphicData>
        </a:graphic>
      </p:graphicFrame>
    </p:spTree>
    <p:extLst>
      <p:ext uri="{BB962C8B-B14F-4D97-AF65-F5344CB8AC3E}">
        <p14:creationId xmlns:p14="http://schemas.microsoft.com/office/powerpoint/2010/main" val="3756245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7C220E-9A5F-3469-98CC-EB970DC662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87AB717-8E84-B700-BE4E-66D950471F19}"/>
              </a:ext>
            </a:extLst>
          </p:cNvPr>
          <p:cNvSpPr>
            <a:spLocks noGrp="1"/>
          </p:cNvSpPr>
          <p:nvPr>
            <p:ph type="title"/>
          </p:nvPr>
        </p:nvSpPr>
        <p:spPr/>
        <p:txBody>
          <a:bodyPr/>
          <a:lstStyle/>
          <a:p>
            <a:r>
              <a:rPr lang="en-US" b="1" dirty="0"/>
              <a:t>Requirement Analysis</a:t>
            </a:r>
            <a:endParaRPr lang="en-IN" b="1" dirty="0"/>
          </a:p>
        </p:txBody>
      </p:sp>
      <p:sp>
        <p:nvSpPr>
          <p:cNvPr id="3" name="Content Placeholder 2">
            <a:extLst>
              <a:ext uri="{FF2B5EF4-FFF2-40B4-BE49-F238E27FC236}">
                <a16:creationId xmlns:a16="http://schemas.microsoft.com/office/drawing/2014/main" id="{7E1D73E5-8356-DA68-660E-0847BEE7378E}"/>
              </a:ext>
            </a:extLst>
          </p:cNvPr>
          <p:cNvSpPr>
            <a:spLocks noGrp="1"/>
          </p:cNvSpPr>
          <p:nvPr>
            <p:ph idx="1"/>
          </p:nvPr>
        </p:nvSpPr>
        <p:spPr>
          <a:xfrm>
            <a:off x="838200" y="1825625"/>
            <a:ext cx="5870331" cy="4667250"/>
          </a:xfrm>
        </p:spPr>
        <p:txBody>
          <a:bodyPr>
            <a:normAutofit fontScale="85000" lnSpcReduction="10000"/>
          </a:bodyPr>
          <a:lstStyle/>
          <a:p>
            <a:pPr marL="0" indent="0">
              <a:buNone/>
            </a:pPr>
            <a:r>
              <a:rPr lang="en-IN" sz="2000" dirty="0"/>
              <a:t>Functional Requirements:</a:t>
            </a:r>
          </a:p>
          <a:p>
            <a:r>
              <a:rPr lang="en-IN" sz="2000" dirty="0"/>
              <a:t>Process both text and image inputs using </a:t>
            </a:r>
            <a:r>
              <a:rPr lang="en-IN" sz="2000" dirty="0" err="1"/>
              <a:t>Groq’s</a:t>
            </a:r>
            <a:r>
              <a:rPr lang="en-IN" sz="2000" dirty="0"/>
              <a:t> multimodal LLM</a:t>
            </a:r>
          </a:p>
          <a:p>
            <a:r>
              <a:rPr lang="en-IN" sz="2000" dirty="0"/>
              <a:t>Provide real-time and accurate medical insights.</a:t>
            </a:r>
          </a:p>
          <a:p>
            <a:r>
              <a:rPr lang="en-IN" sz="2000" dirty="0"/>
              <a:t>Support multilingual communication for accessibility.</a:t>
            </a:r>
          </a:p>
          <a:p>
            <a:r>
              <a:rPr lang="en-IN" sz="2000" dirty="0"/>
              <a:t>Offer symptom assessment and medical recommendations.</a:t>
            </a:r>
          </a:p>
          <a:p>
            <a:pPr marL="0" indent="0">
              <a:buNone/>
            </a:pPr>
            <a:r>
              <a:rPr lang="en-IN" sz="2000" dirty="0"/>
              <a:t>Non-Functional Requirements:</a:t>
            </a:r>
          </a:p>
          <a:p>
            <a:r>
              <a:rPr lang="en-IN" sz="2000" dirty="0"/>
              <a:t>Ensure a user-friendly and intuitive interface.</a:t>
            </a:r>
          </a:p>
          <a:p>
            <a:r>
              <a:rPr lang="en-IN" sz="2000" dirty="0"/>
              <a:t>Comply with healthcare privacy regulations (HIPAA, GDPR).</a:t>
            </a:r>
          </a:p>
          <a:p>
            <a:r>
              <a:rPr lang="en-IN" sz="2000" dirty="0"/>
              <a:t>Maintain high scalability and fast response times. </a:t>
            </a:r>
          </a:p>
          <a:p>
            <a:pPr marL="0" indent="0">
              <a:buNone/>
            </a:pPr>
            <a:r>
              <a:rPr lang="en-IN" sz="2000" dirty="0"/>
              <a:t>Requirements</a:t>
            </a:r>
          </a:p>
          <a:p>
            <a:r>
              <a:rPr lang="en-IN" sz="2000" dirty="0"/>
              <a:t>Hardware: Cloud-based servers, GPUs/TPUs for AI processing.</a:t>
            </a:r>
          </a:p>
          <a:p>
            <a:r>
              <a:rPr lang="en-IN" sz="2000" dirty="0"/>
              <a:t>Software: </a:t>
            </a:r>
            <a:r>
              <a:rPr lang="en-IN" sz="2000" dirty="0" err="1"/>
              <a:t>Groq</a:t>
            </a:r>
            <a:r>
              <a:rPr lang="en-IN" sz="2000" dirty="0"/>
              <a:t> AI framework, NLP engine, secure database system.</a:t>
            </a:r>
          </a:p>
        </p:txBody>
      </p:sp>
      <p:pic>
        <p:nvPicPr>
          <p:cNvPr id="7" name="Picture 6">
            <a:extLst>
              <a:ext uri="{FF2B5EF4-FFF2-40B4-BE49-F238E27FC236}">
                <a16:creationId xmlns:a16="http://schemas.microsoft.com/office/drawing/2014/main" id="{7AE4D8EA-4D3C-A9EF-5762-9C3526020E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8531" y="1825625"/>
            <a:ext cx="5213839" cy="4248150"/>
          </a:xfrm>
          <a:prstGeom prst="rect">
            <a:avLst/>
          </a:prstGeom>
        </p:spPr>
      </p:pic>
    </p:spTree>
    <p:extLst>
      <p:ext uri="{BB962C8B-B14F-4D97-AF65-F5344CB8AC3E}">
        <p14:creationId xmlns:p14="http://schemas.microsoft.com/office/powerpoint/2010/main" val="2251819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6E6292-5E3C-84D4-1BDA-10AF43514C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421D674-7B84-7C07-9723-18B5738E44D1}"/>
              </a:ext>
            </a:extLst>
          </p:cNvPr>
          <p:cNvSpPr>
            <a:spLocks noGrp="1"/>
          </p:cNvSpPr>
          <p:nvPr>
            <p:ph type="title"/>
          </p:nvPr>
        </p:nvSpPr>
        <p:spPr/>
        <p:txBody>
          <a:bodyPr/>
          <a:lstStyle/>
          <a:p>
            <a:r>
              <a:rPr lang="en-US" b="1" dirty="0"/>
              <a:t>Methodology</a:t>
            </a:r>
            <a:endParaRPr lang="en-IN" b="1" dirty="0"/>
          </a:p>
        </p:txBody>
      </p:sp>
      <p:sp>
        <p:nvSpPr>
          <p:cNvPr id="8" name="TextBox 7">
            <a:extLst>
              <a:ext uri="{FF2B5EF4-FFF2-40B4-BE49-F238E27FC236}">
                <a16:creationId xmlns:a16="http://schemas.microsoft.com/office/drawing/2014/main" id="{086F9E79-64D9-C4EA-61B4-0241200AD061}"/>
              </a:ext>
            </a:extLst>
          </p:cNvPr>
          <p:cNvSpPr txBox="1"/>
          <p:nvPr/>
        </p:nvSpPr>
        <p:spPr>
          <a:xfrm>
            <a:off x="6286503" y="6311899"/>
            <a:ext cx="5067297" cy="369332"/>
          </a:xfrm>
          <a:prstGeom prst="rect">
            <a:avLst/>
          </a:prstGeom>
          <a:solidFill>
            <a:schemeClr val="tx1">
              <a:lumMod val="50000"/>
              <a:lumOff val="50000"/>
            </a:schemeClr>
          </a:solidFill>
        </p:spPr>
        <p:txBody>
          <a:bodyPr wrap="square" rtlCol="0">
            <a:spAutoFit/>
          </a:bodyPr>
          <a:lstStyle/>
          <a:p>
            <a:pPr algn="ctr"/>
            <a:r>
              <a:rPr lang="en-US" dirty="0"/>
              <a:t>Use case diagram</a:t>
            </a:r>
            <a:endParaRPr lang="en-IN" dirty="0"/>
          </a:p>
        </p:txBody>
      </p:sp>
      <p:sp>
        <p:nvSpPr>
          <p:cNvPr id="4" name="Content Placeholder 3">
            <a:extLst>
              <a:ext uri="{FF2B5EF4-FFF2-40B4-BE49-F238E27FC236}">
                <a16:creationId xmlns:a16="http://schemas.microsoft.com/office/drawing/2014/main" id="{58B04058-64C5-791D-073E-7AA392EE6E87}"/>
              </a:ext>
            </a:extLst>
          </p:cNvPr>
          <p:cNvSpPr>
            <a:spLocks noGrp="1"/>
          </p:cNvSpPr>
          <p:nvPr>
            <p:ph idx="1"/>
          </p:nvPr>
        </p:nvSpPr>
        <p:spPr>
          <a:xfrm>
            <a:off x="838200" y="1825625"/>
            <a:ext cx="4503234" cy="4351338"/>
          </a:xfrm>
        </p:spPr>
        <p:txBody>
          <a:bodyPr>
            <a:normAutofit fontScale="92500" lnSpcReduction="20000"/>
          </a:bodyPr>
          <a:lstStyle/>
          <a:p>
            <a:r>
              <a:rPr lang="en-US" dirty="0"/>
              <a:t>User inputs symptoms or queries </a:t>
            </a:r>
          </a:p>
          <a:p>
            <a:r>
              <a:rPr lang="en-US" dirty="0"/>
              <a:t>NLP processes the input </a:t>
            </a:r>
          </a:p>
          <a:p>
            <a:r>
              <a:rPr lang="en-US" dirty="0"/>
              <a:t>Intent detection and entity recognition </a:t>
            </a:r>
          </a:p>
          <a:p>
            <a:r>
              <a:rPr lang="en-US" dirty="0"/>
              <a:t>Query matched with medical knowledge base </a:t>
            </a:r>
          </a:p>
          <a:p>
            <a:r>
              <a:rPr lang="en-US" dirty="0"/>
              <a:t>AI generates appropriate medical response </a:t>
            </a:r>
          </a:p>
          <a:p>
            <a:r>
              <a:rPr lang="en-US" dirty="0"/>
              <a:t>Response is sent to the user Optional user feedback for improvement</a:t>
            </a:r>
            <a:endParaRPr lang="en-IN" dirty="0"/>
          </a:p>
        </p:txBody>
      </p:sp>
      <p:pic>
        <p:nvPicPr>
          <p:cNvPr id="6" name="Content Placeholder 4">
            <a:extLst>
              <a:ext uri="{FF2B5EF4-FFF2-40B4-BE49-F238E27FC236}">
                <a16:creationId xmlns:a16="http://schemas.microsoft.com/office/drawing/2014/main" id="{9B4C5E4F-48CD-AFE9-D413-745F787E58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3" y="1825626"/>
            <a:ext cx="4879730" cy="4486274"/>
          </a:xfrm>
          <a:prstGeom prst="rect">
            <a:avLst/>
          </a:prstGeom>
        </p:spPr>
      </p:pic>
    </p:spTree>
    <p:extLst>
      <p:ext uri="{BB962C8B-B14F-4D97-AF65-F5344CB8AC3E}">
        <p14:creationId xmlns:p14="http://schemas.microsoft.com/office/powerpoint/2010/main" val="1088499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92D108-D832-9796-D73D-84F7EA903E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7E46062-367E-257A-5642-3CA22B9C1AB4}"/>
              </a:ext>
            </a:extLst>
          </p:cNvPr>
          <p:cNvSpPr>
            <a:spLocks noGrp="1"/>
          </p:cNvSpPr>
          <p:nvPr>
            <p:ph type="title"/>
          </p:nvPr>
        </p:nvSpPr>
        <p:spPr/>
        <p:txBody>
          <a:bodyPr/>
          <a:lstStyle/>
          <a:p>
            <a:r>
              <a:rPr lang="en-US" b="1" dirty="0"/>
              <a:t>conclusion</a:t>
            </a:r>
            <a:endParaRPr lang="en-IN" b="1" dirty="0"/>
          </a:p>
        </p:txBody>
      </p:sp>
      <p:sp>
        <p:nvSpPr>
          <p:cNvPr id="3" name="Content Placeholder 2">
            <a:extLst>
              <a:ext uri="{FF2B5EF4-FFF2-40B4-BE49-F238E27FC236}">
                <a16:creationId xmlns:a16="http://schemas.microsoft.com/office/drawing/2014/main" id="{B5468DA5-BDAF-DC89-76E0-24620F284771}"/>
              </a:ext>
            </a:extLst>
          </p:cNvPr>
          <p:cNvSpPr>
            <a:spLocks noGrp="1"/>
          </p:cNvSpPr>
          <p:nvPr>
            <p:ph idx="1"/>
          </p:nvPr>
        </p:nvSpPr>
        <p:spPr>
          <a:xfrm>
            <a:off x="838200" y="1825625"/>
            <a:ext cx="9756531" cy="4351338"/>
          </a:xfrm>
        </p:spPr>
        <p:txBody>
          <a:bodyPr>
            <a:normAutofit/>
          </a:bodyPr>
          <a:lstStyle/>
          <a:p>
            <a:pPr marL="0" indent="0">
              <a:buNone/>
            </a:pPr>
            <a:r>
              <a:rPr lang="en-US" sz="2000" dirty="0"/>
              <a:t>AI-powered medical chatbots are changing the way people access healthcare by providing quick and reliable medical support. With the ability to understand both text and images, these chatbots help users check symptoms, get health advice, and manage medications easily. They also reduce the workload on doctors by handling simple medical questions. While this technology makes healthcare more accessible and efficient, challenges like data privacy and accuracy must be carefully managed. With continuous improvements in AI, medical chatbots have the potential to make healthcare smarter, faster, and more convenient for everyone.</a:t>
            </a:r>
            <a:endParaRPr lang="en-IN" sz="2000" dirty="0"/>
          </a:p>
        </p:txBody>
      </p:sp>
    </p:spTree>
    <p:extLst>
      <p:ext uri="{BB962C8B-B14F-4D97-AF65-F5344CB8AC3E}">
        <p14:creationId xmlns:p14="http://schemas.microsoft.com/office/powerpoint/2010/main" val="1551869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8EE256-4776-E309-E1C5-9318D5C377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A02570F-4BC9-7EF1-D8D9-8A96E4ACDD46}"/>
              </a:ext>
            </a:extLst>
          </p:cNvPr>
          <p:cNvSpPr>
            <a:spLocks noGrp="1"/>
          </p:cNvSpPr>
          <p:nvPr>
            <p:ph type="title"/>
          </p:nvPr>
        </p:nvSpPr>
        <p:spPr/>
        <p:txBody>
          <a:bodyPr/>
          <a:lstStyle/>
          <a:p>
            <a:r>
              <a:rPr lang="en-IN" b="1" dirty="0"/>
              <a:t>References</a:t>
            </a:r>
          </a:p>
        </p:txBody>
      </p:sp>
      <p:sp>
        <p:nvSpPr>
          <p:cNvPr id="3" name="Content Placeholder 2">
            <a:extLst>
              <a:ext uri="{FF2B5EF4-FFF2-40B4-BE49-F238E27FC236}">
                <a16:creationId xmlns:a16="http://schemas.microsoft.com/office/drawing/2014/main" id="{83ADD842-5801-BC25-7D93-49138CC9D096}"/>
              </a:ext>
            </a:extLst>
          </p:cNvPr>
          <p:cNvSpPr>
            <a:spLocks noGrp="1"/>
          </p:cNvSpPr>
          <p:nvPr>
            <p:ph idx="1"/>
          </p:nvPr>
        </p:nvSpPr>
        <p:spPr/>
        <p:txBody>
          <a:bodyPr>
            <a:normAutofit/>
          </a:bodyPr>
          <a:lstStyle/>
          <a:p>
            <a:pPr marL="514350" indent="-514350">
              <a:buFont typeface="+mj-lt"/>
              <a:buAutoNum type="arabicPeriod"/>
            </a:pPr>
            <a:r>
              <a:rPr lang="en-IN" sz="2000" dirty="0"/>
              <a:t>A. </a:t>
            </a:r>
            <a:r>
              <a:rPr lang="en-IN" sz="2000" dirty="0" err="1"/>
              <a:t>Athota</a:t>
            </a:r>
            <a:r>
              <a:rPr lang="en-IN" sz="2000" dirty="0"/>
              <a:t> et al., "Chatbot for Healthcare System Using AI," International Journal for Multidisciplinary Research (IJFMR), vol. 6, no. 3, May-June 2024. </a:t>
            </a:r>
          </a:p>
          <a:p>
            <a:pPr marL="514350" indent="-514350">
              <a:buFont typeface="+mj-lt"/>
              <a:buAutoNum type="arabicPeriod"/>
            </a:pPr>
            <a:r>
              <a:rPr lang="en-IN" sz="2000" dirty="0"/>
              <a:t>R. Srivastava and S. Singh, "Automatized Medical Chatbot (</a:t>
            </a:r>
            <a:r>
              <a:rPr lang="en-IN" sz="2000" dirty="0" err="1"/>
              <a:t>Medibot</a:t>
            </a:r>
            <a:r>
              <a:rPr lang="en-IN" sz="2000" dirty="0"/>
              <a:t>)," International Journal for Multidisciplinary Research (IJFMR), vol. 6, no. 3, May-June 2024. </a:t>
            </a:r>
          </a:p>
          <a:p>
            <a:pPr marL="514350" indent="-514350">
              <a:buFont typeface="+mj-lt"/>
              <a:buAutoNum type="arabicPeriod"/>
            </a:pPr>
            <a:r>
              <a:rPr lang="en-IN" sz="2000" dirty="0"/>
              <a:t>T. Tanmay et al., "E-Health Bot to Change the Face of Medicare," International Journal for Multidisciplinary Research (IJFMR), vol. 6, no. 3, May-June 2024.</a:t>
            </a:r>
          </a:p>
          <a:p>
            <a:pPr marL="514350" indent="-514350">
              <a:buFont typeface="+mj-lt"/>
              <a:buAutoNum type="arabicPeriod"/>
            </a:pPr>
            <a:r>
              <a:rPr lang="en-IN" sz="2000" dirty="0"/>
              <a:t>J. Mathew et al., "Chatbot for Disease Prediction and Treatment Recommendation Using ML," International Journal for Multidisciplinary Research (IJFMR), vol. 6, no. 3, May-June 2024.</a:t>
            </a:r>
          </a:p>
        </p:txBody>
      </p:sp>
    </p:spTree>
    <p:extLst>
      <p:ext uri="{BB962C8B-B14F-4D97-AF65-F5344CB8AC3E}">
        <p14:creationId xmlns:p14="http://schemas.microsoft.com/office/powerpoint/2010/main" val="4049830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797</Words>
  <Application>Microsoft Office PowerPoint</Application>
  <PresentationFormat>Widescreen</PresentationFormat>
  <Paragraphs>65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Dubai Medium</vt:lpstr>
      <vt:lpstr>Office Theme</vt:lpstr>
      <vt:lpstr>PowerPoint Presentation</vt:lpstr>
      <vt:lpstr>Introduction</vt:lpstr>
      <vt:lpstr>Abstract</vt:lpstr>
      <vt:lpstr>Literature survey</vt:lpstr>
      <vt:lpstr>Requirement Analysis</vt:lpstr>
      <vt:lpstr>Methodology</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bhagyashree tambake</dc:creator>
  <cp:lastModifiedBy>Madiha Azam</cp:lastModifiedBy>
  <cp:revision>3</cp:revision>
  <dcterms:created xsi:type="dcterms:W3CDTF">2025-04-03T14:21:28Z</dcterms:created>
  <dcterms:modified xsi:type="dcterms:W3CDTF">2025-06-03T07:30:12Z</dcterms:modified>
</cp:coreProperties>
</file>